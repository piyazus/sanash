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a48edac08d4d1d" /><Relationship Type="http://schemas.openxmlformats.org/officeDocument/2006/relationships/extended-properties" Target="/docProps/app.xml" Id="R76d2a9eec7c648e6" /><Relationship Type="http://schemas.openxmlformats.org/officeDocument/2006/relationships/officeDocument" Target="/ppt/presentation.xml" Id="Ra03d2d30fb0044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d672fbcf314077"/>
  </p:sldMasterIdLst>
  <p:notesMasterIdLst>
    <p:notesMasterId xmlns:r="http://schemas.openxmlformats.org/officeDocument/2006/relationships" r:id="R9bc89cbfff114d43"/>
  </p:notesMasterIdLst>
  <p:sldIdLst>
    <p:sldId xmlns:r="http://schemas.openxmlformats.org/officeDocument/2006/relationships" id="256" r:id="R1ee513fdc3cb417d"/>
    <p:sldId xmlns:r="http://schemas.openxmlformats.org/officeDocument/2006/relationships" id="257" r:id="R3bda50201e524ae2"/>
    <p:sldId xmlns:r="http://schemas.openxmlformats.org/officeDocument/2006/relationships" id="258" r:id="Red7a0cbc347d43ea"/>
    <p:sldId xmlns:r="http://schemas.openxmlformats.org/officeDocument/2006/relationships" id="259" r:id="R69f5d442ce9649eb"/>
    <p:sldId xmlns:r="http://schemas.openxmlformats.org/officeDocument/2006/relationships" id="260" r:id="R3ffb830355574376"/>
    <p:sldId xmlns:r="http://schemas.openxmlformats.org/officeDocument/2006/relationships" id="261" r:id="R94e82b08c64a496f"/>
    <p:sldId xmlns:r="http://schemas.openxmlformats.org/officeDocument/2006/relationships" id="262" r:id="Rb273be1de6b84c9d"/>
    <p:sldId xmlns:r="http://schemas.openxmlformats.org/officeDocument/2006/relationships" id="263" r:id="Re1ae58fe132d42fb"/>
    <p:sldId xmlns:r="http://schemas.openxmlformats.org/officeDocument/2006/relationships" id="264" r:id="Re170b5fccf224a80"/>
    <p:sldId xmlns:r="http://schemas.openxmlformats.org/officeDocument/2006/relationships" id="265" r:id="R8890042ac55c45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9ce8f195f342b2" /><Relationship Type="http://schemas.openxmlformats.org/officeDocument/2006/relationships/slideMaster" Target="/ppt/slideMasters/slideMaster1.xml" Id="R50d672fbcf314077" /><Relationship Type="http://schemas.openxmlformats.org/officeDocument/2006/relationships/notesMaster" Target="/ppt/notesMasters/notesMaster1.xml" Id="R9bc89cbfff114d43" /><Relationship Type="http://schemas.openxmlformats.org/officeDocument/2006/relationships/presProps" Target="/ppt/presProps.xml" Id="R29308577354245ed" /><Relationship Type="http://schemas.openxmlformats.org/officeDocument/2006/relationships/tableStyles" Target="/ppt/tableStyles.xml" Id="R148011da44ca4770" /><Relationship Type="http://schemas.openxmlformats.org/officeDocument/2006/relationships/slide" Target="/ppt/slides/slide1.xml" Id="R1ee513fdc3cb417d" /><Relationship Type="http://schemas.openxmlformats.org/officeDocument/2006/relationships/slide" Target="/ppt/slides/slide2.xml" Id="R3bda50201e524ae2" /><Relationship Type="http://schemas.openxmlformats.org/officeDocument/2006/relationships/slide" Target="/ppt/slides/slide3.xml" Id="Red7a0cbc347d43ea" /><Relationship Type="http://schemas.openxmlformats.org/officeDocument/2006/relationships/slide" Target="/ppt/slides/slide4.xml" Id="R69f5d442ce9649eb" /><Relationship Type="http://schemas.openxmlformats.org/officeDocument/2006/relationships/slide" Target="/ppt/slides/slide5.xml" Id="R3ffb830355574376" /><Relationship Type="http://schemas.openxmlformats.org/officeDocument/2006/relationships/slide" Target="/ppt/slides/slide6.xml" Id="R94e82b08c64a496f" /><Relationship Type="http://schemas.openxmlformats.org/officeDocument/2006/relationships/slide" Target="/ppt/slides/slide7.xml" Id="Rb273be1de6b84c9d" /><Relationship Type="http://schemas.openxmlformats.org/officeDocument/2006/relationships/slide" Target="/ppt/slides/slide8.xml" Id="Re1ae58fe132d42fb" /><Relationship Type="http://schemas.openxmlformats.org/officeDocument/2006/relationships/slide" Target="/ppt/slides/slide9.xml" Id="Re170b5fccf224a80" /><Relationship Type="http://schemas.openxmlformats.org/officeDocument/2006/relationships/slide" Target="/ppt/slides/slide10.xml" Id="R8890042ac55c45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32ba94ac4e46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63e83b68b64fa1" /><Relationship Type="http://schemas.openxmlformats.org/officeDocument/2006/relationships/notesMaster" Target="/ppt/notesMasters/notesMaster1.xml" Id="Rec5713d4e55b42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afa46b445e4847" /><Relationship Type="http://schemas.openxmlformats.org/officeDocument/2006/relationships/notesMaster" Target="/ppt/notesMasters/notesMaster1.xml" Id="R6da58f70b09344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4e39a2f0904e2c" /><Relationship Type="http://schemas.openxmlformats.org/officeDocument/2006/relationships/notesMaster" Target="/ppt/notesMasters/notesMaster1.xml" Id="R5967a59097c74d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28aa1f48374df6" /><Relationship Type="http://schemas.openxmlformats.org/officeDocument/2006/relationships/notesMaster" Target="/ppt/notesMasters/notesMaster1.xml" Id="R4d880afdc2fb45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c0a1224d1e4b56" /><Relationship Type="http://schemas.openxmlformats.org/officeDocument/2006/relationships/notesMaster" Target="/ppt/notesMasters/notesMaster1.xml" Id="Rdda048c07fad43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46868df1df41b7" /><Relationship Type="http://schemas.openxmlformats.org/officeDocument/2006/relationships/notesMaster" Target="/ppt/notesMasters/notesMaster1.xml" Id="Re470a4aaa1b742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cc4ac40a9f44b7" /><Relationship Type="http://schemas.openxmlformats.org/officeDocument/2006/relationships/notesMaster" Target="/ppt/notesMasters/notesMaster1.xml" Id="Rc1ce6a60ae9543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759c3236a6416b" /><Relationship Type="http://schemas.openxmlformats.org/officeDocument/2006/relationships/notesMaster" Target="/ppt/notesMasters/notesMaster1.xml" Id="Rb18f484df3aa47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13d39075e7484a" /><Relationship Type="http://schemas.openxmlformats.org/officeDocument/2006/relationships/notesMaster" Target="/ppt/notesMasters/notesMaster1.xml" Id="R787f7985e8194b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0c5b92e1634d21" /><Relationship Type="http://schemas.openxmlformats.org/officeDocument/2006/relationships/notesMaster" Target="/ppt/notesMasters/notesMaster1.xml" Id="Re9a0e14a6e7c4f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Фото: парк автобусов Алматы. Источник: Almaty TV.</a:t>
            </a:r>
          </a:p>
          <a:p xmlns:a="http://schemas.openxmlformats.org/drawingml/2006/main">
            <a:r>
              <a:t>https://almaty.tv/ru/news/transport/1328-kak-v-almaty-moderniziruyut-marshrutnuyu-set</a:t>
            </a:r>
          </a:p>
          <a:p xmlns:a="http://schemas.openxmlformats.org/drawingml/2006/main">
            <a:r>
              <a:t>Статус продукта: локальный README.md проекта Sanash; полевая валидация не заявляется.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Данные: research/survey/outputs/descriptives.txt и model_summary.txt.</a:t>
            </a:r>
          </a:p>
          <a:p xmlns:a="http://schemas.openxmlformats.org/drawingml/2006/main">
            <a:r>
              <a:t>Сценарии: одинаковые 5 минут ожидания и час пик; n=209 для переполненного, n=208 для состояния со стоячими местами.</a:t>
            </a:r>
          </a:p>
          <a:p xmlns:a="http://schemas.openxmlformats.org/drawingml/2006/main">
            <a:r>
              <a:t>68,9% против 42,8%; WTW 7,96 мин, bootstrap 95% CI [5,89; 11,09], 1000 повторов.</a:t>
            </a:r>
          </a:p>
          <a:p xmlns:a="http://schemas.openxmlformats.org/drawingml/2006/main">
            <a:r>
              <a:t>Ограничения: stated preference, 77,7% в возрасте 14–24, 73,5% студенты; не причинная оценка продукта.</a:t>
            </a:r>
          </a:p>
          <a:p xmlns:a="http://schemas.openxmlformats.org/drawingml/2006/main">
            <a:r>
              <a:t>Фото: Tengrinews. https://tengrinews.kz/article/vlezt-i-vyzit-cto-ne-tak-s-almatinskimi-avtobusami-3255/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корневой README.md и development/README.md — пять порядковых уровней и непрерывная оценка 0..1.</a:t>
            </a:r>
          </a:p>
          <a:p xmlns:a="http://schemas.openxmlformats.org/drawingml/2006/main">
            <a:r>
              <a:t>Черновой uplink передаёт агрегированный статус и метаданные; продукт не требует передачи сырого видео.</a:t>
            </a:r>
          </a:p>
          <a:p xmlns:a="http://schemas.openxmlformats.org/drawingml/2006/main">
            <a:r>
              <a:t>Состояния отказа должны быть отдельными от уровней загрузки; два теста сейчас фиксируют открытые противоречия спецификации состояний.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development/README.md, разделы pipeline, uplink schema и state machine.</a:t>
            </a:r>
          </a:p>
          <a:p xmlns:a="http://schemas.openxmlformats.org/drawingml/2006/main">
            <a:r>
              <a:t>Локальный baseline и валидация сообщения существуют; транспорт, авторизация, привязка устройства к автобусу и TTL требуют согласования с Innoforce/Avtobys.</a:t>
            </a:r>
          </a:p>
          <a:p xmlns:a="http://schemas.openxmlformats.org/drawingml/2006/main">
            <a:r>
              <a:t>Статусы на слайде намеренно разделяют реализацию, кандидатов и открытые интерфейсы.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development/README.md, CAMERA_GEOMETRY consolidated section.</a:t>
            </a:r>
          </a:p>
          <a:p xmlns:a="http://schemas.openxmlformats.org/drawingml/2006/main">
            <a:r>
              <a:t>Бумажный расчёт для строго нижнего направления показывает локальный охват около 2,46 м при принятой длине салона 11,5 м; это не полевое измерение и поэтому не вынесено как точная метрика.</a:t>
            </a:r>
          </a:p>
          <a:p xmlns:a="http://schemas.openxmlformats.org/drawingml/2006/main">
            <a:r>
              <a:t>Углы 0/30/45/60 — план сравнительного теста, не результат. Пороги ошибки и допустимой видимой зоны должны быть согласованы до теста.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требований: development/cad/camera_test_rig.scad и development/README.md.</a:t>
            </a:r>
          </a:p>
          <a:p xmlns:a="http://schemas.openxmlformats.org/drawingml/2006/main">
            <a:r>
              <a:t>Визуализация создана ИИ для коммуникации концепта; это не фотография, не точный рендер SCAD и не доказательство изготовления.</a:t>
            </a:r>
          </a:p>
          <a:p xmlns:a="http://schemas.openxmlformats.org/drawingml/2006/main">
            <a:r>
              <a:t>Текущий статус: proposed; нет STL/STEP, фото сборки и физической проверки на автобусе.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development/cad/wiring_diagram.svg и development/README.md.</a:t>
            </a:r>
          </a:p>
          <a:p xmlns:a="http://schemas.openxmlformats.org/drawingml/2006/main">
            <a:r>
              <a:t>USB-C на Jetson dev kit используется для данных/recovery; питание предполагается через barrel jack с PD trigger. Схема proposed, узлы не проверены на стенде.</a:t>
            </a:r>
          </a:p>
          <a:p xmlns:a="http://schemas.openxmlformats.org/drawingml/2006/main">
            <a:r>
              <a:t>Камера IMX219-160 и NVMe указаны как кандидаты/открытые решения. Транспорт, авторизация и device-to-vehicle mapping требуют согласования с Innoforce/Avtobys.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development/README.md и корневой README.md.</a:t>
            </a:r>
          </a:p>
          <a:p xmlns:a="http://schemas.openxmlformats.org/drawingml/2006/main">
            <a:r>
              <a:t>Текущий прогон: 456 passed, 2 failed; оба падения фиксируют открытые противоречия в спецификации состояний.</a:t>
            </a:r>
          </a:p>
          <a:p xmlns:a="http://schemas.openxmlformats.org/drawingml/2006/main">
            <a:r>
              <a:t>Baseline: публичный наружный DISCO, случайно инициализированный ResNet-18, smoke run; это не качество Sanash на автобусах.</a:t>
            </a:r>
          </a:p>
          <a:p xmlns:a="http://schemas.openxmlformats.org/drawingml/2006/main">
            <a:r>
              <a:t>Нет собственных кадров салона, целевой модели, метрик точности и бенчмарка на Jetson.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development/README.md, раздел latency budget.</a:t>
            </a:r>
          </a:p>
          <a:p xmlns:a="http://schemas.openxmlformats.org/drawingml/2006/main">
            <a:r>
              <a:t>Цель продукта: &lt;=30 секунд до появления в приложении.</a:t>
            </a:r>
          </a:p>
          <a:p xmlns:a="http://schemas.openxmlformats.org/drawingml/2006/main">
            <a:r>
              <a:t>0,1 / 1,0 / до 10 / 2 секунды — кандидаты для проектного бюджета, а не измерения на Jetson. Их сумма 13,1 с не включает неизвестную задержку на стороне Avtobys.</a:t>
            </a:r>
          </a:p>
          <a:p xmlns:a="http://schemas.openxmlformats.org/drawingml/2006/main">
            <a:r>
              <a:t>Приёмочный показатель предлагается измерять сквозной меткой времени и 95-м перцентилем; конкретный порог качества модели согласуется до теста.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пилотной рамки: business/README.md, INNOFORCE_RTCI_PILOT_BRIEF.</a:t>
            </a:r>
          </a:p>
          <a:p xmlns:a="http://schemas.openxmlformats.org/drawingml/2006/main">
            <a:r>
              <a:t>Этап 1: один автобус достаточен для обмера, тестовых кадров, стенда и теневой технической проверки.</a:t>
            </a:r>
          </a:p>
          <a:p xmlns:a="http://schemas.openxmlformats.org/drawingml/2006/main">
            <a:r>
              <a:t>Этап 2: пользовательский эксперимент требует нескольких последовательных оборудованных автобусов или альтернативного дизайна; один автобус не поддерживает обещанный выбор между текущим и следующим рейсом.</a:t>
            </a:r>
          </a:p>
          <a:p xmlns:a="http://schemas.openxmlformats.org/drawingml/2006/main">
            <a:r>
              <a:t>Фото терминала Avtobys: официальный портал gov.kz. https://www.gov.kz/memleket/entities/almaty/press/news/details/1157055?lang=kk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de72744f444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c6adb5f19a45ba" /><Relationship Type="http://schemas.openxmlformats.org/officeDocument/2006/relationships/slideLayout" Target="/ppt/slideLayouts/slideLayout1.xml" Id="Re145ca5854f34d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45ca5854f34d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49927de0d4278" /><Relationship Type="http://schemas.openxmlformats.org/officeDocument/2006/relationships/image" Target="/ppt/media/image.bin" Id="R3268d42b46894dec" /><Relationship Type="http://schemas.openxmlformats.org/officeDocument/2006/relationships/notesSlide" Target="/ppt/notesSlides/notesSlide1.xml" Id="R31bf1ba584f749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368594efa4927" /><Relationship Type="http://schemas.openxmlformats.org/officeDocument/2006/relationships/chart" Target="/ppt/slides/charts/chart1.xml" Id="R05b99eb812194ec9" /><Relationship Type="http://schemas.openxmlformats.org/officeDocument/2006/relationships/image" Target="/ppt/media/image.png" Id="Rd30da64ecf8e42b2" /><Relationship Type="http://schemas.openxmlformats.org/officeDocument/2006/relationships/notesSlide" Target="/ppt/notesSlides/notesSlide2.xml" Id="Rc74a362eb5c440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8374e7d7f4843" /><Relationship Type="http://schemas.openxmlformats.org/officeDocument/2006/relationships/notesSlide" Target="/ppt/notesSlides/notesSlide3.xml" Id="R17f4b632302a41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560e822a44f01" /><Relationship Type="http://schemas.openxmlformats.org/officeDocument/2006/relationships/notesSlide" Target="/ppt/notesSlides/notesSlide4.xml" Id="R3ff52f72154e4d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53486ff5647e5" /><Relationship Type="http://schemas.openxmlformats.org/officeDocument/2006/relationships/notesSlide" Target="/ppt/notesSlides/notesSlide5.xml" Id="Rce80672832e349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2b22209ca4656" /><Relationship Type="http://schemas.openxmlformats.org/officeDocument/2006/relationships/image" Target="/ppt/media/image2.png" Id="Rb1a78d4a405f4942" /><Relationship Type="http://schemas.openxmlformats.org/officeDocument/2006/relationships/notesSlide" Target="/ppt/notesSlides/notesSlide6.xml" Id="Rd555c7f8dd0f42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27d11bc8f41c6" /><Relationship Type="http://schemas.openxmlformats.org/officeDocument/2006/relationships/notesSlide" Target="/ppt/notesSlides/notesSlide7.xml" Id="R884b6ca81b1f4c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1b071405b4759" /><Relationship Type="http://schemas.openxmlformats.org/officeDocument/2006/relationships/notesSlide" Target="/ppt/notesSlides/notesSlide8.xml" Id="R6a15bade70a046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6ea4edc72465c" /><Relationship Type="http://schemas.openxmlformats.org/officeDocument/2006/relationships/chart" Target="/ppt/slides/charts/chart2.xml" Id="Re3b7e7cac04940aa" /><Relationship Type="http://schemas.openxmlformats.org/officeDocument/2006/relationships/notesSlide" Target="/ppt/notesSlides/notesSlide9.xml" Id="Rd984a7bdab6243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a5f631f3044a8" /><Relationship Type="http://schemas.openxmlformats.org/officeDocument/2006/relationships/image" Target="/ppt/media/image.jpeg" Id="R6e912c8772e94408" /><Relationship Type="http://schemas.openxmlformats.org/officeDocument/2006/relationships/notesSlide" Target="/ppt/notesSlides/notesSlide10.xml" Id="R0f9ed5761a1e4bc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Выберут следующий автобус</c:v>
          </c:tx>
          <c:spPr>
            <a:solidFill xmlns:a="http://schemas.openxmlformats.org/drawingml/2006/main">
              <a:srgbClr val="1759D1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645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9D7C2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Переполнен</c:v>
                </c:pt>
                <c:pt idx="1">
                  <c:v>Есть места стоя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0.689</c:v>
                </c:pt>
                <c:pt idx="1">
                  <c:v>0.428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07131F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6DE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BD6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Проектный лимит, секунды</c:v>
          </c:tx>
          <c:spPr>
            <a:solidFill xmlns:a="http://schemas.openxmlformats.org/drawingml/2006/main">
              <a:srgbClr val="19D7C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0C98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9D7C2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4B94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759D1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Захват</c:v>
                </c:pt>
                <c:pt idx="1">
                  <c:v>Инференс</c:v>
                </c:pt>
                <c:pt idx="2">
                  <c:v>Стабилизация</c:v>
                </c:pt>
                <c:pt idx="3">
                  <c:v>Публикация / сеть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0.1</c:v>
                </c:pt>
                <c:pt idx="1">
                  <c:v>1</c:v>
                </c:pt>
                <c:pt idx="2">
                  <c:v>10</c:v>
                </c:pt>
                <c:pt idx="3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6DE"/>
              </a:solidFill>
              <a:prstDash val="solid"/>
            </a:ln>
          </c:spPr>
        </c:majorGridlines>
        <c:numFmt formatCode="0.0&quot; с&quot;"/>
        <c:majorTickMark val="none"/>
        <c:minorTickMark val="none"/>
        <c:spPr>
          <a:ln xmlns:a="http://schemas.openxmlformats.org/drawingml/2006/main" w="9525">
            <a:solidFill>
              <a:srgbClr val="CBD6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8d42b46894dec"/>
          <a:srcRect xmlns:a="http://schemas.openxmlformats.org/drawingml/2006/main" l="16940" t="0" r="16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1625" y="0"/>
            <a:ext cx="681037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E4DF7-9463-4155-B575-AF128004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57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8F06E-2457-4D59-834D-D6C450E6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0"/>
            <a:ext cx="571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9BE08-938A-4A9D-9339-7FAB3A6C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9D7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D7C2"/>
                </a:solidFill>
                <a:latin typeface="Aptos"/>
                <a:ea typeface="Aptos"/>
                <a:cs typeface="Aptos"/>
              </a:rPr>
              <a:t>SANASH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6E32C-C353-437B-BC07-D12065BF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Загрузка салона —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видна до посадки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7C67D-83B7-42F6-A56D-BEB0A1E7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DCE6E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CE6ED"/>
                </a:solidFill>
                <a:latin typeface="Aptos"/>
                <a:ea typeface="Aptos"/>
                <a:cs typeface="Aptos"/>
              </a:rPr>
              <a:t>Предложение ограниченного технического пилота для Avtobys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3B68B-EC0D-475D-86D7-EF2C5FDD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1A8C1-1B28-41DA-A5EE-A69A87E0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57725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СТАТУС: ПРОТОТИП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77B8A-753D-4AA0-8F3C-1758D057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967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Полевая валидация в автобусе ещё не проведена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8B39F-EBBC-496D-A50A-4A6A3ACC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38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8FA7B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FA7BA"/>
                </a:solidFill>
                <a:latin typeface="Aptos"/>
                <a:ea typeface="Aptos"/>
                <a:cs typeface="Aptos"/>
              </a:rPr>
              <a:t>Алматы · 2026</a:t>
            </a:r>
          </a:p>
        </p:txBody>
      </p:sp>
    </p:spTree>
    <p:extLst>
      <p:ext uri="{BB962C8B-B14F-4D97-AF65-F5344CB8AC3E}">
        <p14:creationId xmlns:p14="http://schemas.microsoft.com/office/powerpoint/2010/main" val="13545097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9A177-E154-4810-A3AD-1424F72B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Исследовательский сигнал, а не доказанный эффект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17C4A-944E-452C-B6C1-0C3DA966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D7C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7CAA9-F8DD-4305-B313-FC89E323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опрос заявленных предпочтений · волна 1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14350" y="1476375"/>
          <a:ext xmlns:a="http://schemas.openxmlformats.org/drawingml/2006/main" cx="64293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b99eb812194ec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5B74C-FF85-4502-BEA7-6DA77E2E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85737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273"/>
                </a:solidFill>
                <a:latin typeface="Aptos"/>
                <a:ea typeface="Aptos"/>
                <a:cs typeface="Aptos"/>
              </a:rPr>
              <a:t>n = 208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60FE1-0502-4926-93F6-623F2470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57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273"/>
                </a:solidFill>
                <a:latin typeface="Aptos"/>
                <a:ea typeface="Aptos"/>
                <a:cs typeface="Aptos"/>
              </a:rPr>
              <a:t>n = 209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20240-553A-4BD1-9223-99090A6F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+26,1 п.п.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3A49E-3407-441D-97A3-6F9BB1C7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при одинаковом ожидании 5 минут и одинаковом часе пик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da64ecf8e42b2"/>
          <a:srcRect xmlns:a="http://schemas.openxmlformats.org/drawingml/2006/main" l="13796" t="0" r="137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390650"/>
            <a:ext cx="4210050" cy="4457700"/>
          </a:xfrm>
          <a:prstGeom xmlns:a="http://schemas.openxmlformats.org/drawingml/2006/main" prst="roundRect">
            <a:avLst>
              <a:gd name="adj" fmla="val 497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FC154-EA99-49A9-A9A8-4C5207E6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14850"/>
            <a:ext cx="3752850" cy="1104900"/>
          </a:xfrm>
          <a:prstGeom xmlns:a="http://schemas.openxmlformats.org/drawingml/2006/main" prst="roundRect">
            <a:avLst>
              <a:gd name="adj" fmla="val 13793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246D3-EC9C-4036-92EB-BD9544C3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863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9D7C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9D7C2"/>
                </a:solidFill>
                <a:latin typeface="Aptos"/>
                <a:ea typeface="Aptos"/>
                <a:cs typeface="Aptos"/>
              </a:rPr>
              <a:t>7,96 мин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DA4C5-AFAF-41E7-8ADB-04E49F5F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054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оценочная готовность ждать; 95% ДИ [5,89; 11,09]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CEC90-6001-4839-BA8B-AA5EE99A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06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EDF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1D8BF-99F8-4D38-B64A-0DC6B953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273"/>
                </a:solidFill>
                <a:latin typeface="Aptos"/>
                <a:ea typeface="Aptos"/>
                <a:cs typeface="Aptos"/>
              </a:rPr>
              <a:t>Ограничение выборки: 77,7% — 14–24 года; 73,5% — студенты. Это не причинный эффект показа Sanash.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1CFE8-4BB6-41FF-87FE-58B09CA0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8899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88997"/>
                </a:solidFill>
                <a:latin typeface="Aptos"/>
                <a:ea typeface="Aptos"/>
                <a:cs typeface="Aptos"/>
              </a:rPr>
              <a:t>SANASH · технический питч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7BB6E-CDCE-4769-8C4F-BB0591BF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090772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6AD853-A0FB-4E14-BD83-782C81F8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Пассажиру нужен один понятный сигнал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607B9-C9F0-493F-ACBD-8420395E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D7C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EB620-BCA0-4392-B717-61B7631D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DCE6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6ED"/>
                </a:solidFill>
                <a:latin typeface="Aptos"/>
                <a:ea typeface="Aptos"/>
                <a:cs typeface="Aptos"/>
              </a:rPr>
              <a:t>не видеопоток · не карта людей · не персональные данные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88F70-0C42-48BD-96F6-6100D018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Sanash переводит оценку загрузки салона в пять устойчивых уровней — чтобы решить: садиться сейчас или ждать следующий автобус.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DBEC5-F98D-447D-B369-C66D22B3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8859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30C98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AB501-DB88-4708-B4A1-451F8F30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824BA-3976-4762-A361-42DDEF73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Свободно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6ED76-2896-4E4C-BA0B-F979E96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8859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80D96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EB9D4-573A-459E-906D-203ECF35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1462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3164C-B64C-4979-ABA5-89000613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19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Низкая загрузка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3BF0A-1724-4239-9289-F8E43318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71750"/>
            <a:ext cx="18859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4D35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319CF-DB6C-48BF-A4B1-33688AC0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1462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0B09F-7823-41F7-BD72-EDA03049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19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Средняя загрузка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7EBD6-CA0B-4955-A7E2-3D1335A4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18859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1106F-D54A-4270-8D0B-608F8B46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1462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71AE3A-0C0B-4B29-8E3B-F86B6A4D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19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Высокая загрузка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55879-4F8C-463B-80AA-E1368936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1750"/>
            <a:ext cx="18859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0645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05DF2-2D25-49A9-9A9B-2123E6BF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1462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7D1582-67C1-4944-921A-E0348EAD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194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Переполнено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D188D9-CCE1-4DB8-B799-13BDD8EC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1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55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E9DCB-3F04-41BA-BDC4-0EA2DDC0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9D7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D7C2"/>
                </a:solidFill>
                <a:latin typeface="Aptos"/>
                <a:ea typeface="Aptos"/>
                <a:cs typeface="Aptos"/>
              </a:rPr>
              <a:t>Уровень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5E0B5F-5833-48D4-9C8D-5FD089DB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1…5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49E261-FB14-4E93-814F-E9BCE778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591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9D7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D7C2"/>
                </a:solidFill>
                <a:latin typeface="Aptos"/>
                <a:ea typeface="Aptos"/>
                <a:cs typeface="Aptos"/>
              </a:rPr>
              <a:t>Оценка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94870B-EAAD-43E2-9AF3-610F39B1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9053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0…1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E9100A-7C1D-482E-934E-2B1CBEAF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91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9D7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D7C2"/>
                </a:solidFill>
                <a:latin typeface="Aptos"/>
                <a:ea typeface="Aptos"/>
                <a:cs typeface="Aptos"/>
              </a:rPr>
              <a:t>Уверенность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93873-7F0A-4167-BEE7-F55B7B8E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053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0…1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A7E00D-D23E-454A-94EB-FF9801AF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591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9D7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D7C2"/>
                </a:solidFill>
                <a:latin typeface="Aptos"/>
                <a:ea typeface="Aptos"/>
                <a:cs typeface="Aptos"/>
              </a:rPr>
              <a:t>Время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DE870A-0C98-47CC-B5E7-F16B646C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9053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метка UTC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8B2436-A0FB-4813-ADE2-2CD7D814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91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9D7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D7C2"/>
                </a:solidFill>
                <a:latin typeface="Aptos"/>
                <a:ea typeface="Aptos"/>
                <a:cs typeface="Aptos"/>
              </a:rPr>
              <a:t>Состояние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B4C6A0-1CD9-4B73-B7F2-2C7DBF4F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053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норма / нет данных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871908-5E73-4051-8754-67DEC9AD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0612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02E4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B5FE64-3A22-4DA7-BC06-D75369FC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43575"/>
            <a:ext cx="10525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DCE6E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CE6ED"/>
                </a:solidFill>
                <a:latin typeface="Aptos"/>
                <a:ea typeface="Aptos"/>
                <a:cs typeface="Aptos"/>
              </a:rPr>
              <a:t>Граница приватности: наружу уходит только агрегированный статус; сырой кадр остаётся на бортовом устройстве.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3E183C-2519-4B7C-9C23-AC7EE80E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FA7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FA7BA"/>
                </a:solidFill>
                <a:latin typeface="Aptos"/>
                <a:ea typeface="Aptos"/>
                <a:cs typeface="Aptos"/>
              </a:rPr>
              <a:t>SANASH · технический питч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44805C-EDC4-43D0-B984-4EF7DD7A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19D7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D7C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699132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CAB9CA-1A57-4A0F-B28D-89956C48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Что именно проверяет технический пилот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FD19E-13A2-433A-BD11-B0371E2B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D7C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F1B9D-ECC2-4019-A48F-67C81B6A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каждый узел имеет явный статус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1F446-ADF8-4D2C-87B9-CBBFB129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2038350" cy="2400300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BD6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58D0F-6ACD-41D7-8BD2-198E327F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F75B8-0B79-4B4E-AFEB-C2C18E08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Кадр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C5961-D7CB-42BF-B9B2-6FCA734D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камера в салоне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4B84C-06E1-4C6D-983C-2110DA51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0257C-28CC-49F4-9AB4-A29A929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146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КАНДИДАТ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732B5-D805-4365-A8A2-AA38A72F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813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5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67EA2-5BF7-444A-B872-55462A24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33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59D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A7C80-370E-4393-9178-A9189E50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19250"/>
            <a:ext cx="2038350" cy="2400300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BD6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98894-8292-40B6-8560-63ACFB55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09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16FDF-E879-4111-8732-288B030B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669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Оценка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E10B4-825E-4F96-8E0C-9BA94DF3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146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счёт + уверенность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7CE70-2ADF-4AD3-9D1D-D39127AF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0995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077C6-CD04-4934-B523-5D761DF3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76625"/>
            <a:ext cx="146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ПРОТОТИП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B6B37-ABD4-494F-B765-31CA46E9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813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59D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810C5-74C0-4F97-BA8A-F9CF30F8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33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59D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089E0-E9B0-4125-A561-48FEE221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19250"/>
            <a:ext cx="2038350" cy="2400300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BD6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67E490-7458-42E1-81BC-FA834752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09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DA7A93-E16F-4D9A-8988-29DF1FB8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669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Стабилизация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C9C38C-ED05-429B-AAEE-83697943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146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уровень + состояние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0B3863-9B32-4CCA-9E55-CCFF4CA4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0995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D7C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439B06-A2F7-44F5-BD27-D0DF3996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76625"/>
            <a:ext cx="146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ЧЕРНОВИК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9FE1F7-6A32-493B-8734-1EF543BD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59D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4F025D-B0A6-4002-ADF4-C133CEF2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33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59D1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2F2EB0-1B07-442E-A3E8-4D95C0BC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19250"/>
            <a:ext cx="2038350" cy="2400300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BD6D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D2DCC5-1F44-45A8-BD2E-4C57F498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09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949BFF-E344-453D-AF9E-E2FA00C7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669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Сообщение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B9D680-0CA5-4822-9605-C19F2543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146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минимальный JSON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4B2332-D1C8-4C0A-88B5-AB110337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0995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C982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78ABAC-0CC8-4F19-9BC2-998E6A30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76625"/>
            <a:ext cx="146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ЛОКАЛЬНО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756783-36B8-4971-8DC7-6B5D722A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813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59D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846137-6D62-464C-B4E9-AB41FDE5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33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59D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5A00BF-CB44-48E1-B9AA-A29ABE40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19250"/>
            <a:ext cx="2038350" cy="2400300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BD6D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545A2A-2101-47BD-9229-42C366DD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09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053698-5740-483F-9A97-DBF11A4E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669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Avtobys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EE6930-BA9F-4EE6-903E-B6B29F81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146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приём и показ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5FCDFF-5AFE-4EA7-9595-7697EBE8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0995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45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AC2B99-49CF-4BB6-8E4D-07D10909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76625"/>
            <a:ext cx="146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ОТКРЫТО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5D5936-E4EB-40BC-BCAF-578B264F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Качество кадра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82D381-EFAB-4ECC-8A5E-2639F122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темнота · смаз · закрытый объектив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E2D30A-CBB2-4558-B901-76A6872F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05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Свежесть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661144-A7A4-4866-81C7-017B0BCF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0577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время последнего валидного сообщения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3396B6-41C4-4DB0-A2DE-84034019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05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Отказ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B2A137-8BD0-4626-9399-F43275BE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577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явно «нет данных», а не ложный зелёный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CDEBF9-4B21-4980-8010-EA2325E4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06125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2ECF2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A5E501-E383-404F-8095-8EE0D310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15025"/>
            <a:ext cx="10525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Критерий перехода: не подключать показ пассажирам, пока камера, качество счёта и состояния отказа не пройдут полевой тест.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BBE743-DF1B-4554-9CF4-98C04220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8899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88997"/>
                </a:solidFill>
                <a:latin typeface="Aptos"/>
                <a:ea typeface="Aptos"/>
                <a:cs typeface="Aptos"/>
              </a:rPr>
              <a:t>SANASH · технический питч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D7840A-6FED-4BEA-BAFB-D6110F13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689710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040ADD-9BE9-44D3-8A85-4AC0EE43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Главный риск обзора решается в автобусе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E18C6-02DE-47AF-B303-0CDB7CD7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D7C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2D921-D1A3-4380-AC40-5F847788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расчёт указывает на риск · выбор угла — только по измерению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0FA91-47CE-44F4-BF57-8D5A860A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7131F"/>
                </a:solidFill>
                <a:latin typeface="Aptos"/>
                <a:ea typeface="Aptos"/>
                <a:cs typeface="Aptos"/>
              </a:rPr>
              <a:t>Строго вниз камера видит лишь локальную зону прохода. Вместо ложной точности — короткий сравнительный тест четырёх углов.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95291-02CB-4F01-AA5C-D05901FC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3431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E8EDF0"/>
          </a:solidFill>
          <a:ln xmlns:a="http://schemas.openxmlformats.org/drawingml/2006/main" w="14288">
            <a:solidFill>
              <a:srgbClr val="CBD6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1F18A-9ECC-47BC-9434-CFEBD8C9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526273"/>
                </a:solidFill>
                <a:latin typeface="Aptos"/>
                <a:ea typeface="Aptos"/>
                <a:cs typeface="Aptos"/>
              </a:rPr>
              <a:t>0°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CB0FF-6FA1-430E-AD1E-66A253E8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3"/>
                </a:solidFill>
                <a:latin typeface="Aptos"/>
                <a:ea typeface="Aptos"/>
                <a:cs typeface="Aptos"/>
              </a:rPr>
              <a:t>базовая точка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91C0A-863B-4FC1-9D7C-1AECED5C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43150"/>
            <a:ext cx="23431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E6F8F5"/>
          </a:solidFill>
          <a:ln xmlns:a="http://schemas.openxmlformats.org/drawingml/2006/main" w="14288">
            <a:solidFill>
              <a:srgbClr val="19D7C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B35A6-405A-467B-8D01-5AC80D59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4317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30°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CFC47-779D-44C2-9697-5A8A5DB5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194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3"/>
                </a:solidFill>
                <a:latin typeface="Aptos"/>
                <a:ea typeface="Aptos"/>
                <a:cs typeface="Aptos"/>
              </a:rPr>
              <a:t>кандидат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7109E-EAD7-4F68-AC7A-21C37C16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43150"/>
            <a:ext cx="23431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E6F8F5"/>
          </a:solidFill>
          <a:ln xmlns:a="http://schemas.openxmlformats.org/drawingml/2006/main" w="14288">
            <a:solidFill>
              <a:srgbClr val="19D7C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7C5BB-CB28-4753-8947-01F510B0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4317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45°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D7577-647E-477A-BEAE-80A2F376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194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3"/>
                </a:solidFill>
                <a:latin typeface="Aptos"/>
                <a:ea typeface="Aptos"/>
                <a:cs typeface="Aptos"/>
              </a:rPr>
              <a:t>кандидат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A1A1F-7760-4098-BFDD-2623C5C3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343150"/>
            <a:ext cx="23431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E6F8F5"/>
          </a:solidFill>
          <a:ln xmlns:a="http://schemas.openxmlformats.org/drawingml/2006/main" w="14288">
            <a:solidFill>
              <a:srgbClr val="19D7C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D8158-43D0-4B19-8251-E7E2911A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4317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60°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27DEF-A2BC-4C4B-9060-996A5EDC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2194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3"/>
                </a:solidFill>
                <a:latin typeface="Aptos"/>
                <a:ea typeface="Aptos"/>
                <a:cs typeface="Aptos"/>
              </a:rPr>
              <a:t>кандидат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F1AEE-9874-42D1-8046-A193D8AC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Видимая зона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5D69E-1404-4BB7-917F-FA55FF3F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доля прохода без слепых участков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09970-E429-4EE8-A2A0-2CB0FEDD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624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Перекрытия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FC938C-8060-44A1-B133-CA66BFD6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0535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двери, поручни, стоящие пассажиры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60988-796D-4088-9A25-9DD34D9D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624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Ошибка счёта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4201B3-83FD-4140-8200-96385A1D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0535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сравнение с ручной разметкой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86317F-575E-4E0B-BE4B-B879C111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3624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Приватность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443266-BCD0-41F7-8214-A5DCD907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70535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минимизация распознаваемых лиц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C089EA-D899-4F79-B0B9-D1A16514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06125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07131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2F6BF4-BAF6-493D-8B38-2EC2E79E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042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До теста с партнёром фиксируем пороги приёмки. После теста выбираем угол или останавливаем концепт.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140E16-DA71-4638-904B-7BFB5CEF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8899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88997"/>
                </a:solidFill>
                <a:latin typeface="Aptos"/>
                <a:ea typeface="Aptos"/>
                <a:cs typeface="Aptos"/>
              </a:rPr>
              <a:t>SANASH · технический питч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9487E9-DF19-43EC-830B-7DA4C4D8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67607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78d4a405f4942"/>
          <a:srcRect xmlns:a="http://schemas.openxmlformats.org/drawingml/2006/main" l="18343" t="0" r="183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0"/>
            <a:ext cx="7715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170CF-044F-49CB-9BD7-74C3CC79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72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E48B1-0F71-4246-9F5B-5A9E3FB8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71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Крепление — объект проверки, не готовое изделие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B94D4-CF42-4C8C-9FA2-0D23ED1D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361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Параметрическая оснастка нужна, чтобы быстро менять угол и проверить монтаж на реальном поручне.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993A7-6795-4248-9FE4-C0150586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D7C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D7C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64665-1132-41EE-9A8E-9A3336D0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05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Совместимость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03C14-2414-45F8-BAFF-954CF626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48025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диаметр поручня · доступ к крепежу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88113-592C-432E-B439-F085AB02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D7C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D7C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29956-9ECE-483B-92B4-23CD3695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814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Безопасность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843E9-D56D-41B1-AC6E-138790C0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24325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вибрация · фиксация · страховочный трос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E32AF-60EE-4983-B25F-E9AF80C3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9D7C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D7C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47BD8-C22D-48DE-A05D-7AB1DC06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577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Кабель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CC695-B95B-42AA-87E6-08533171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00625"/>
            <a:ext cx="2838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радиус изгиба · разгрузка натяжения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4F767-0B39-4686-A751-EBC72CC6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33718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0645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DF7F1-8401-45A7-9FEF-35F15040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3105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КОНЦЕПТ · НЕ ИЗГОТОВЛЕНО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004F95-A336-432D-98B2-9E9429E8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857875"/>
            <a:ext cx="3790950" cy="495300"/>
          </a:xfrm>
          <a:prstGeom xmlns:a="http://schemas.openxmlformats.org/drawingml/2006/main" prst="roundRect">
            <a:avLst>
              <a:gd name="adj" fmla="val 23077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B49A0-69C9-44A5-A2A8-20E12D82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019800"/>
            <a:ext cx="3448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ВИЗУАЛИЗАЦИЯ СОЗДАНА ИИ — НЕ ФОТО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948FE-A0E4-40BE-8D68-6828ADBC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8899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88997"/>
                </a:solidFill>
                <a:latin typeface="Aptos"/>
                <a:ea typeface="Aptos"/>
                <a:cs typeface="Aptos"/>
              </a:rPr>
              <a:t>SANASH · механическая концепция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94E14-56A1-4729-9CB9-1D89FC23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70114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5028FD-D7BE-4443-B9E8-4A1D6DBA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Аппаратная цепь: пять узлов, три блокера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1168C-5145-4E18-8D17-31EFDDC3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D7C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66DBD-6C2C-4D45-BB7F-3F0898BD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схема для стендовой проверки, не спецификация поставки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D4054-F235-4181-8949-DCF6EC48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2000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CBD6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51339-D883-451C-8DA4-8BB1FFBE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Камера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BF71D-8906-48AD-9EA2-245B58CE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1657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IMX219-160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C3FBE-C032-40C9-B3D2-F97A2A3E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5AD8D-DCDA-4116-8445-9AC707DD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28925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КАНДИДАТ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BB3C2-B8BC-4F84-B50E-5CE01350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574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5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F2229-B6CF-4FF7-8899-8562F9A8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59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5DE4F-2D6D-47D3-AB72-33C59B0F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14500"/>
            <a:ext cx="2000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CBD6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9A882-74D0-4E91-9359-09F981BD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3357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Вычислитель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6E641-884C-410F-8CB1-866EF914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33625"/>
            <a:ext cx="1657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Jetson Orin Nano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31B54-4982-44E2-AE46-E3096344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7622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D7C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D0522-C362-4B8C-AC89-708CC2A5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28925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ВЫБРАН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E27E5-3AAB-4E4F-897F-3321DFB2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574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59D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6B657-7FC4-4E66-AB8A-6A9F1EF4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59D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68853-C095-4EBF-B3FE-31215788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14500"/>
            <a:ext cx="2000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CBD6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7450C-6024-46A1-B52F-69D061E9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3357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Накопитель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9C349D-B7DF-44CF-8BA3-0D8DFC86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33625"/>
            <a:ext cx="1657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NVMe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D1999A-DA73-478A-A18E-E91DB431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7622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45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D4EB66-16AD-429B-8FAC-E82A6D64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828925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ОТКРЫТО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04295C-1164-4280-ABBE-06FEA98F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59D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C08EA4-02EE-4418-91FF-EADD8E06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59D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BC781D-1F0A-44B4-B241-94A76E45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14500"/>
            <a:ext cx="2000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CBD6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C6440F-BC4D-4AA6-9798-3FAC0EC9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3357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Связь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7EA6FF-4B08-4504-A5E6-E5F6F5E9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33625"/>
            <a:ext cx="1657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модем / сеть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4F21D9-DE06-49D3-900F-879A33DF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622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45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6F4984-A18B-41F3-97A7-B9A98381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28925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ОТКРЫТО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A17EA1-2DEA-4263-B778-B06F19A6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574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59D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6D7A05-4A22-4D0B-826A-5DEA6A6F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59D1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00DE48-980E-4069-B153-72549044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14500"/>
            <a:ext cx="2000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CBD6DE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274584-7B49-4871-8FBA-787B659A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93357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Avtobys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FAD4C9-7F3B-4EC2-B72E-634A0F3F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33625"/>
            <a:ext cx="1657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приём статуса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C91899-05C8-4BCD-A735-C42B7510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45A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43703D-9E2A-4E1D-B318-68F8C87E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828925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ОТКРЫТО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A26C0C-C17A-40BD-8C84-4002ADE8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ПИТАНИЕ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1750BF-63C2-4B74-9DCD-F3C47C21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06125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F53DFB-69CC-4FF8-B09B-5C6B3195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Аккумулятор 65 Вт+ → триггер USB PD 12/15 В → разъём питания Jetson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396F84-40BC-48BA-91C1-721061D2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91025"/>
            <a:ext cx="190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DBADF0-984B-4658-AB6C-154956E6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577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НЕ ПРОВЕРЕНО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15230F-15DF-4CB1-8A65-3DB1873D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C2D36D-03F7-4FB6-924E-AC759829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95900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Питание Jetson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ABE499-ABD8-4FB4-A202-3E82739B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режим, разъём и время работы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B1595E-9C86-4F7F-BE2B-5606C14C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3340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3A91EF-2AA1-4E05-870C-6A1281A7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295900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Хранение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0834B7-88F4-4AAE-8569-94C257FF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6197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объём, шифрование, очистка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0FC5A9-790A-4DB4-9D79-3EA4699C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340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E0EADF-CBC3-4BD5-910F-8BBD4B70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95900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Интеграция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4B2B2D-52A6-4055-9218-13D8CC13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6197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транспорт, авторизация, привязка к рейсу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C140E0-BF6C-4172-8731-088BCFF7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8899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88997"/>
                </a:solidFill>
                <a:latin typeface="Aptos"/>
                <a:ea typeface="Aptos"/>
                <a:cs typeface="Aptos"/>
              </a:rPr>
              <a:t>SANASH · технический питч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25A64F-DF30-4F67-B2BF-C82CB0D1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334356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9E62E6-10F2-4712-B530-2442B087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Работает каркас, а не продуктовая модель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A1282-4D40-4539-9E89-DE70B358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D7C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97CC0-F752-4B5F-9B77-99357E5B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DCE6E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6ED"/>
                </a:solidFill>
                <a:latin typeface="Aptos"/>
                <a:ea typeface="Aptos"/>
                <a:cs typeface="Aptos"/>
              </a:rPr>
              <a:t>инженерная база отделена от продуктовых доказательств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7676A-A343-474D-8E39-51975AC0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250" b="1">
                <a:solidFill>
                  <a:srgbClr val="19D7C2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19D7C2"/>
                </a:solidFill>
                <a:latin typeface="Aptos"/>
                <a:ea typeface="Aptos"/>
                <a:cs typeface="Aptos"/>
              </a:rPr>
              <a:t>456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C8F5E-8D30-4C28-B97F-C59250F4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тестов проходят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8A0DC-B693-4C84-8346-6E7284B7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6210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250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A9BD4-E40B-43DC-BAD9-13A4F9C8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717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DCE6E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6ED"/>
                </a:solidFill>
                <a:latin typeface="Aptos"/>
                <a:ea typeface="Aptos"/>
                <a:cs typeface="Aptos"/>
              </a:rPr>
              <a:t>фиксируют известные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DCE6E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6ED"/>
                </a:solidFill>
                <a:latin typeface="Aptos"/>
                <a:ea typeface="Aptos"/>
                <a:cs typeface="Aptos"/>
              </a:rPr>
              <a:t>противоречия спецификации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698D4-8D55-4BF4-997B-256A9543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FA7B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FA7BA"/>
                </a:solidFill>
                <a:latin typeface="Aptos"/>
                <a:ea typeface="Aptos"/>
                <a:cs typeface="Aptos"/>
              </a:rPr>
              <a:t>прогон: 11.09.2026 · a4099566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9A635-10D7-423F-BEF9-DB6C7EA5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1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55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7A208-7D0E-492F-8A02-F869BE5F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0C98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0C982"/>
                </a:solidFill>
                <a:latin typeface="Aptos"/>
                <a:ea typeface="Aptos"/>
                <a:cs typeface="Aptos"/>
              </a:rPr>
              <a:t>ЕСТЬ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1B4D0-8516-4365-AC32-9F35EF08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480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НЕТ ПОКА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D3CF8-A895-47E6-B65B-1FF78BE2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30C98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0C98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D1F0A-B767-4CB9-85C7-AF410161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Загрузка и подготовка DISCO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10F95-F260-42B0-ADAF-C0111CAC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FA7B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A7BA"/>
                </a:solidFill>
                <a:latin typeface="Aptos"/>
                <a:ea typeface="Aptos"/>
                <a:cs typeface="Aptos"/>
              </a:rPr>
              <a:t>воспроизводимый локальный путь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40865-94FB-4072-AE8C-C45411F9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30C98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0C98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3254F-C4F0-4553-8907-D04EC771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Скалярный счёт из карты плотности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3D96E-1C6C-4C4C-B0C7-4E406748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FA7B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A7BA"/>
                </a:solidFill>
                <a:latin typeface="Aptos"/>
                <a:ea typeface="Aptos"/>
                <a:cs typeface="Aptos"/>
              </a:rPr>
              <a:t>техническая проверка запуска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8457B9-CEDA-4694-96D7-493AAC54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30C98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0C98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8BD7AB-902C-4E93-8C37-A4ACB322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Черновик схемы сообщения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08D51D-D1AE-4DD2-ACF5-DEAD9D50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FA7B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A7BA"/>
                </a:solidFill>
                <a:latin typeface="Aptos"/>
                <a:ea typeface="Aptos"/>
                <a:cs typeface="Aptos"/>
              </a:rPr>
              <a:t>валидация структуры локально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1E891-BC69-4698-BB36-68A27880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A3F87-0693-426F-B18F-3C846E65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957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Нет кадров из салона автобуса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A25108-5D32-4294-83B7-CB648966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81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FA7B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A7BA"/>
                </a:solidFill>
                <a:latin typeface="Aptos"/>
                <a:ea typeface="Aptos"/>
                <a:cs typeface="Aptos"/>
              </a:rPr>
              <a:t>доменные данные отсутствуют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5A36B8-B6ED-4DD3-8DEE-1D513013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6548B5-8A2E-4E10-959A-657315D0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625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Нет целевой обученной модели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947309-222A-4772-92CA-5F041FBB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482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FA7B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A7BA"/>
                </a:solidFill>
                <a:latin typeface="Aptos"/>
                <a:ea typeface="Aptos"/>
                <a:cs typeface="Aptos"/>
              </a:rPr>
              <a:t>ResNet-18 случайно инициализирован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662EAE-0671-4E2A-8C5C-D7D821BB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292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07B500-47D5-4E5C-9CD0-36696F27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292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Нет замеров на Jetson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446AC9-7F59-46EB-B85A-4D88FD55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7150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FA7B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A7BA"/>
                </a:solidFill>
                <a:latin typeface="Aptos"/>
                <a:ea typeface="Aptos"/>
                <a:cs typeface="Aptos"/>
              </a:rPr>
              <a:t>точность и задержка не заявляются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E484F0-9A78-4AB5-B44E-EC395C93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FA7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FA7BA"/>
                </a:solidFill>
                <a:latin typeface="Aptos"/>
                <a:ea typeface="Aptos"/>
                <a:cs typeface="Aptos"/>
              </a:rPr>
              <a:t>SANASH · технический питч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67E125-D3D1-4CD6-842C-54B5D162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19D7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D7C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225771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26167-7208-49D8-806C-8826FDA3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Цель задержки ≤30 с. Замеров на Jetson пока нет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04FF3-3241-4A85-AAB7-571C3BBB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D7C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D0CB4-0842-4661-AFE9-D9203738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значения ниже — проектные лимиты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33400" y="1600200"/>
          <a:ext xmlns:a="http://schemas.openxmlformats.org/drawingml/2006/main" cx="657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b7e7cac04940a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E7897-A443-450C-93DB-DAB4F914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0002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≤2,0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A2493-0FC5-47EB-A126-6C676DC0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051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≤10,0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3C64C-52CD-4C45-8A14-6BE9790B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09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≤1,0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37E10-3CF7-4554-9373-01AFE1A1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114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≤0,1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17147-8C2B-4605-AEE2-8560D439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95425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45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C963A-E3F2-47AC-B0C0-D4081EA9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6210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ПРОЕКТНЫЙ БЮДЖЕТ · НЕ ЗАМЕР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37CBD-50D5-4D71-AAE4-A3FEB418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75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≤13,1 с 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78CA6-8D29-41A6-9F7D-57A2C0BE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14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задержка Avtobys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21F89-03A5-4516-AC38-F40BAF19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670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7131F"/>
                </a:solidFill>
                <a:latin typeface="Aptos"/>
                <a:ea typeface="Aptos"/>
                <a:cs typeface="Aptos"/>
              </a:rPr>
              <a:t>приём и отображение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7131F"/>
                </a:solidFill>
                <a:latin typeface="Aptos"/>
                <a:ea typeface="Aptos"/>
                <a:cs typeface="Aptos"/>
              </a:rPr>
              <a:t>на стороне приложения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8DF9D-2844-49B1-A0D7-AFA31337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62500"/>
            <a:ext cx="3429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131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96ABB-6811-4A26-A8ED-F209C1A7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530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9D7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D7C2"/>
                </a:solidFill>
                <a:latin typeface="Aptos"/>
                <a:ea typeface="Aptos"/>
                <a:cs typeface="Aptos"/>
              </a:rPr>
              <a:t>Как измеряем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41941-F42C-4C61-9B6D-2DFF6EC3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578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сквозная метка времени: кадр → статус → экран приложения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3BBA0-1EB0-4668-A9F6-222B9867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525125" cy="36195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E7EDF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5DA2FA-286B-467B-A778-2ED63148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3"/>
                </a:solidFill>
                <a:latin typeface="Aptos"/>
                <a:ea typeface="Aptos"/>
                <a:cs typeface="Aptos"/>
              </a:rPr>
              <a:t>Решение о переходе: только по измеренному 95-му перцентилю сквозной задержки и согласованному порогу качества.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B84CDB-F764-4049-AF87-1DEC8921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8899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88997"/>
                </a:solidFill>
                <a:latin typeface="Aptos"/>
                <a:ea typeface="Aptos"/>
                <a:cs typeface="Aptos"/>
              </a:rPr>
              <a:t>SANASH · технический питч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B31CAE-F5BD-46AB-B5FB-10126734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1759D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59D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96170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12c8772e94408"/>
          <a:srcRect xmlns:a="http://schemas.openxmlformats.org/drawingml/2006/main" l="17145" t="0" r="171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4875" y="0"/>
            <a:ext cx="3667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91219-4D32-4DCD-927D-80F1691C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858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DEA70-AD4D-41A4-8555-42A0FC38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Решение на встрече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50357-EC83-4210-ACF0-9DC728D9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D7C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2E188-CCFE-4CCC-A11E-394EE86F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9D7C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9D7C2"/>
                </a:solidFill>
                <a:latin typeface="Aptos"/>
                <a:ea typeface="Aptos"/>
                <a:cs typeface="Aptos"/>
              </a:rPr>
              <a:t>Этап 1 · один автобус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63B0D-1A7A-4361-AD98-316378CC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Доступ для обмера и съёмки тестовых кадров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AEB5A-8FAD-4931-83C6-463404E1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7067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DCE6E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6ED"/>
                </a:solidFill>
                <a:latin typeface="Aptos"/>
                <a:ea typeface="Aptos"/>
                <a:cs typeface="Aptos"/>
              </a:rPr>
              <a:t>Результат: выбранный угол и крепление, стенд питания, размеченная выборка, измеренная задержка, решение о переходе.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768B9-7978-429F-8025-503C2FFB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720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55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9AFA7-6758-499A-939F-B0F16EC7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Этап 2 · только после решения о переходе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B364F-5546-42DD-AC76-1A71F9E4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Несколько последовательных автобусов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09F0A-3FBD-4E84-AADD-2CFABF4E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7067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DCE6E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6ED"/>
                </a:solidFill>
                <a:latin typeface="Aptos"/>
                <a:ea typeface="Aptos"/>
                <a:cs typeface="Aptos"/>
              </a:rPr>
              <a:t>Теневой режим → контроль / показ → измерение фактического выбора пассажира. Один автобус для такого эксперимента недостаточен.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46C67-7762-483D-BC4B-09C597E0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72199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9D7C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83F05-07D0-46BF-9E8D-58813271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9775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07131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31F"/>
                </a:solidFill>
                <a:latin typeface="Aptos"/>
                <a:ea typeface="Aptos"/>
                <a:cs typeface="Aptos"/>
              </a:rPr>
              <a:t>Согласуем этап 1 и ответственных с обеих сторон?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F9129-7E27-4A4C-90FF-81D72B53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8FA7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FA7BA"/>
                </a:solidFill>
                <a:latin typeface="Aptos"/>
                <a:ea typeface="Aptos"/>
                <a:cs typeface="Aptos"/>
              </a:rPr>
              <a:t>SANASH · запрос на технический пилот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1F6AE-A31E-428B-837D-F2F08DB1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19D7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D7C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1270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2026-09-11T10:47:43.3910000Z</dcterms:created>
  <dcterms:modified xsi:type="dcterms:W3CDTF">2026-09-11T10:47:43.3910000Z</dcterms:modified>
</coreProperties>
</file>